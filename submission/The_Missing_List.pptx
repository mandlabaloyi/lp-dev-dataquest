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0"/>
          </a:xfrm>
          <a:prstGeom prst="roundRect">
            <a:avLst>
              <a:gd name="adj" fmla="val 0"/>
            </a:avLst>
          </a:prstGeom>
          <a:solidFill>
            <a:srgbClr val="14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A8B0BA"/>
                </a:solidFill>
                <a:latin typeface="Segoe UI"/>
              </a:rPr>
              <a:t>DATAQUEST  ·  THEME: EDUCATION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60704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Segoe UI"/>
              </a:rPr>
              <a:t>The Missing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42032"/>
            <a:ext cx="9509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0">
                <a:solidFill>
                  <a:srgbClr val="3D4248"/>
                </a:solidFill>
                <a:latin typeface="Segoe UI"/>
              </a:rPr>
              <a:t>More than 40% of South African learners who start Grade 1 never finish matric. </a:t>
            </a:r>
            <a:r>
              <a:rPr sz="1900" b="1">
                <a:solidFill>
                  <a:srgbClr val="14171A"/>
                </a:solidFill>
                <a:latin typeface="Segoe UI"/>
              </a:rPr>
              <a:t>Nobody publishes which schools.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611880"/>
            <a:ext cx="2522143" cy="1170432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3794760"/>
            <a:ext cx="211980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2A78D6"/>
                </a:solidFill>
                <a:latin typeface="Segoe UI"/>
              </a:rPr>
              <a:t>7,681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4297680"/>
            <a:ext cx="2119807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767C85"/>
                </a:solidFill>
                <a:latin typeface="Segoe UI"/>
              </a:rPr>
              <a:t>secondary schools scored for 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2263" y="3611880"/>
            <a:ext cx="2522143" cy="1170432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3431" y="3794760"/>
            <a:ext cx="211980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B6834"/>
                </a:solidFill>
                <a:latin typeface="Segoe UI"/>
              </a:rPr>
              <a:t>842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3431" y="4297680"/>
            <a:ext cx="2119807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767C85"/>
                </a:solidFill>
                <a:latin typeface="Segoe UI"/>
              </a:rPr>
              <a:t>on the priority tier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3611880"/>
            <a:ext cx="2522143" cy="1170432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8455" y="3794760"/>
            <a:ext cx="211980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4171A"/>
                </a:solidFill>
                <a:latin typeface="Segoe UI"/>
              </a:rPr>
              <a:t>212,893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8455" y="4297680"/>
            <a:ext cx="2119807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767C85"/>
                </a:solidFill>
                <a:latin typeface="Segoe UI"/>
              </a:rPr>
              <a:t>learners inside those schools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92311" y="3611880"/>
            <a:ext cx="2522143" cy="1170432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3479" y="3794760"/>
            <a:ext cx="211980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4171A"/>
                </a:solidFill>
                <a:latin typeface="Segoe UI"/>
              </a:rPr>
              <a:t>0.694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3479" y="4297680"/>
            <a:ext cx="2119807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767C85"/>
                </a:solidFill>
                <a:latin typeface="Segoe UI"/>
              </a:rPr>
              <a:t>test AUC, on years never seen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9784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767C85"/>
                </a:solidFill>
                <a:latin typeface="Segoe UI"/>
              </a:rPr>
              <a:t>A school-level dropout risk register for South Africa, built entirely from open government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14476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767C85"/>
                </a:solidFill>
                <a:latin typeface="Segoe UI"/>
              </a:rPr>
              <a:t>github.com/Mandla78/lp-dev-dataquest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767C85"/>
                </a:solidFill>
                <a:latin typeface="Segoe UI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859536"/>
            <a:ext cx="658368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60704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>
                <a:solidFill>
                  <a:srgbClr val="14171A"/>
                </a:solidFill>
                <a:latin typeface="Segoe UI"/>
              </a:rPr>
              <a:t>The number is known. The list is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64008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  <a:spcAft>
                <a:spcPts val="1600"/>
              </a:spcAft>
            </a:pPr>
            <a:r>
              <a:rPr sz="1700" b="1">
                <a:solidFill>
                  <a:srgbClr val="14171A"/>
                </a:solidFill>
                <a:latin typeface="Segoe UI"/>
              </a:rPr>
              <a:t>40 of every 100 children</a:t>
            </a:r>
            <a:r>
              <a:rPr sz="1700" b="0">
                <a:solidFill>
                  <a:srgbClr val="3D4248"/>
                </a:solidFill>
                <a:latin typeface="Segoe UI"/>
              </a:rPr>
              <a:t> who walk into a Grade 1 classroom will not walk out of a Grade 12 one. That figure is published, widely quoted and not in dispute.</a:t>
            </a:r>
          </a:p>
          <a:p>
            <a:pPr>
              <a:lnSpc>
                <a:spcPct val="136000"/>
              </a:lnSpc>
              <a:spcAft>
                <a:spcPts val="1600"/>
              </a:spcAft>
            </a:pPr>
            <a:r>
              <a:rPr sz="1700" b="0">
                <a:solidFill>
                  <a:srgbClr val="3D4248"/>
                </a:solidFill>
                <a:latin typeface="Segoe UI"/>
              </a:rPr>
              <a:t>The problem is not that the number is unknown. It is that </a:t>
            </a:r>
            <a:r>
              <a:rPr sz="1700" b="1">
                <a:solidFill>
                  <a:srgbClr val="14171A"/>
                </a:solidFill>
                <a:latin typeface="Segoe UI"/>
              </a:rPr>
              <a:t>it cannot be pointed at anything.</a:t>
            </a:r>
          </a:p>
          <a:p>
            <a:pPr>
              <a:lnSpc>
                <a:spcPct val="136000"/>
              </a:lnSpc>
              <a:spcAft>
                <a:spcPts val="1600"/>
              </a:spcAft>
            </a:pPr>
            <a:r>
              <a:rPr sz="1700" b="0">
                <a:solidFill>
                  <a:srgbClr val="3D4248"/>
                </a:solidFill>
                <a:latin typeface="Segoe UI"/>
              </a:rPr>
              <a:t>Nobody can deploy a teacher to a percentage. An organisation with one retention programme and funding for twelve schools cannot use a national average to choose the twelve.</a:t>
            </a:r>
          </a:p>
          <a:p>
            <a:pPr>
              <a:lnSpc>
                <a:spcPct val="136000"/>
              </a:lnSpc>
              <a:spcAft>
                <a:spcPts val="0"/>
              </a:spcAft>
            </a:pPr>
            <a:r>
              <a:rPr sz="1700" b="1">
                <a:solidFill>
                  <a:srgbClr val="EB6834"/>
                </a:solidFill>
                <a:latin typeface="Segoe UI"/>
              </a:rPr>
              <a:t>Learners are counted after they are gone, in aggregate, once a year.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700784"/>
            <a:ext cx="3733495" cy="3017520"/>
          </a:xfrm>
          <a:prstGeom prst="roundRect">
            <a:avLst>
              <a:gd name="adj" fmla="val 6000"/>
            </a:avLst>
          </a:prstGeom>
          <a:solidFill>
            <a:srgbClr val="14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91856" y="2029968"/>
            <a:ext cx="3111703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8B0BA"/>
                </a:solidFill>
                <a:latin typeface="Segoe UI"/>
              </a:rPr>
              <a:t>Every year that list does not exist,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help goes somewhere —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EB6834"/>
                </a:solidFill>
                <a:latin typeface="Segoe UI"/>
              </a:rPr>
              <a:t>just not necessarily where the loss is worst.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67C85"/>
                </a:solidFill>
                <a:latin typeface="Segoe UI"/>
              </a:rPr>
              <a:t>The Missing List  ·  DataQuest  · 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55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67C85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767C85"/>
                </a:solidFill>
                <a:latin typeface="Segoe UI"/>
              </a:rPr>
              <a:t>WHAT HAS TO BE ANSWERED 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859536"/>
            <a:ext cx="658368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60704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>
                <a:solidFill>
                  <a:srgbClr val="14171A"/>
                </a:solidFill>
                <a:latin typeface="Segoe UI"/>
              </a:rPr>
              <a:t>Four questions stand in the way. We answer three.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0">
                <a:solidFill>
                  <a:srgbClr val="767C85"/>
                </a:solidFill>
                <a:latin typeface="Segoe UI"/>
              </a:rPr>
              <a:t>None of them currently has an answer anywhere in the public record.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76272"/>
            <a:ext cx="10637215" cy="694944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8658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171A"/>
                </a:solidFill>
                <a:latin typeface="Segoe UI"/>
              </a:rPr>
              <a:t>Which provinces are losing the most?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238658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3D4248"/>
                </a:solidFill>
                <a:latin typeface="Segoe UI"/>
              </a:rPr>
              <a:t>8 of 9, ranked by measured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2855" y="2368296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A7F37"/>
                </a:solidFill>
                <a:latin typeface="Segoe UI"/>
              </a:rPr>
              <a:t>ANSWERED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80944"/>
            <a:ext cx="10637215" cy="694944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19125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171A"/>
                </a:solidFill>
                <a:latin typeface="Segoe UI"/>
              </a:rPr>
              <a:t>Which districts inside those provinces?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3191256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3D4248"/>
                </a:solidFill>
                <a:latin typeface="Segoe UI"/>
              </a:rPr>
              <a:t>72, ranked within their province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42855" y="317296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A7F37"/>
                </a:solidFill>
                <a:latin typeface="Segoe UI"/>
              </a:rPr>
              <a:t>ANSWERED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85616"/>
            <a:ext cx="10637215" cy="694944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9959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171A"/>
                </a:solidFill>
                <a:latin typeface="Segoe UI"/>
              </a:rPr>
              <a:t>Which schools inside those districts?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99592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3D4248"/>
                </a:solidFill>
                <a:latin typeface="Segoe UI"/>
              </a:rPr>
              <a:t>7,681, scored individually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42855" y="39776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A7F37"/>
                </a:solidFill>
                <a:latin typeface="Segoe UI"/>
              </a:rPr>
              <a:t>ANSWERED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590288"/>
            <a:ext cx="10637215" cy="694944"/>
          </a:xfrm>
          <a:prstGeom prst="roundRect">
            <a:avLst>
              <a:gd name="adj" fmla="val 6000"/>
            </a:avLst>
          </a:prstGeom>
          <a:solidFill>
            <a:srgbClr val="FFF8EC"/>
          </a:solidFill>
          <a:ln w="12700">
            <a:solidFill>
              <a:srgbClr val="F0D9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800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171A"/>
                </a:solidFill>
                <a:latin typeface="Segoe UI"/>
              </a:rPr>
              <a:t>Which grades inside those schools?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48006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3D4248"/>
                </a:solidFill>
                <a:latin typeface="Segoe UI"/>
              </a:rPr>
              <a:t>Needs per-grade enrolment — held under permission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478231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EB6834"/>
                </a:solidFill>
                <a:latin typeface="Segoe UI"/>
              </a:rPr>
              <a:t>NOT YET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77840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>
                <a:solidFill>
                  <a:srgbClr val="14171A"/>
                </a:solidFill>
                <a:latin typeface="Segoe UI"/>
              </a:rPr>
              <a:t>On the fourth we are deliberate. </a:t>
            </a:r>
            <a:r>
              <a:rPr sz="1350" b="0">
                <a:solidFill>
                  <a:srgbClr val="3D4248"/>
                </a:solidFill>
                <a:latin typeface="Segoe UI"/>
              </a:rPr>
              <a:t>We can say a school is losing its Grade 8–12 pipeline. We cannot yet say whether the loss sits in Grade 10 or Grade 11. That is a form, not a rebuild — the same pipeline answers it the day the permission arrives.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67C85"/>
                </a:solidFill>
                <a:latin typeface="Segoe UI"/>
              </a:rPr>
              <a:t>The Missing List  ·  DataQuest  ·  Education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00055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67C85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767C85"/>
                </a:solidFill>
                <a:latin typeface="Segoe UI"/>
              </a:rPr>
              <a:t>THE CHALLENGE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859536"/>
            <a:ext cx="658368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60704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>
                <a:solidFill>
                  <a:srgbClr val="14171A"/>
                </a:solidFill>
                <a:latin typeface="Segoe UI"/>
              </a:rPr>
              <a:t>The data is broken, and nothing says 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0">
                <a:solidFill>
                  <a:srgbClr val="767C85"/>
                </a:solidFill>
                <a:latin typeface="Segoe UI"/>
              </a:rPr>
              <a:t>Seven detectors over 572,607 records across two datasets.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76272"/>
            <a:ext cx="2522143" cy="960120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359152"/>
            <a:ext cx="211980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4171A"/>
                </a:solidFill>
                <a:latin typeface="Segoe UI"/>
              </a:rPr>
              <a:t>572,607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862072"/>
            <a:ext cx="2119807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767C85"/>
                </a:solidFill>
                <a:latin typeface="Segoe UI"/>
              </a:rPr>
              <a:t>records scanned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2263" y="2176272"/>
            <a:ext cx="2522143" cy="960120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3431" y="2359152"/>
            <a:ext cx="211980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B6834"/>
                </a:solidFill>
                <a:latin typeface="Segoe U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3431" y="2862072"/>
            <a:ext cx="2119807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767C85"/>
                </a:solidFill>
                <a:latin typeface="Segoe UI"/>
              </a:rPr>
              <a:t>discrepancies found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2176272"/>
            <a:ext cx="2522143" cy="960120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8455" y="2359152"/>
            <a:ext cx="211980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CF222E"/>
                </a:solidFill>
                <a:latin typeface="Segoe UI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8455" y="2862072"/>
            <a:ext cx="2119807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767C85"/>
                </a:solidFill>
                <a:latin typeface="Segoe UI"/>
              </a:rPr>
              <a:t>severe enough to change a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92311" y="2176272"/>
            <a:ext cx="2522143" cy="960120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3479" y="2359152"/>
            <a:ext cx="211980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4171A"/>
                </a:solidFill>
                <a:latin typeface="Segoe U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3479" y="2862072"/>
            <a:ext cx="2119807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767C85"/>
                </a:solidFill>
                <a:latin typeface="Segoe UI"/>
              </a:rPr>
              <a:t>raise an error anywhere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9242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300" b="1">
                <a:solidFill>
                  <a:srgbClr val="14171A"/>
                </a:solidFill>
                <a:latin typeface="Segoe UI"/>
              </a:rPr>
              <a:t>2017 loses 1.44 million learners</a:t>
            </a:r>
            <a:r>
              <a:rPr sz="1300" b="0">
                <a:solidFill>
                  <a:srgbClr val="3D4248"/>
                </a:solidFill>
                <a:latin typeface="Segoe UI"/>
              </a:rPr>
              <a:t> nationally; 2018 gains 1.31 million back.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00" b="1">
                <a:solidFill>
                  <a:srgbClr val="14171A"/>
                </a:solidFill>
                <a:latin typeface="Segoe UI"/>
              </a:rPr>
              <a:t>Province codes are unstable</a:t>
            </a:r>
            <a:r>
              <a:rPr sz="1300" b="0">
                <a:solidFill>
                  <a:srgbClr val="3D4248"/>
                </a:solidFill>
                <a:latin typeface="Segoe UI"/>
              </a:rPr>
              <a:t> — KZ/KZN, GT/GP — turning a country of nine provinces into a dataset of eleven.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00" b="1">
                <a:solidFill>
                  <a:srgbClr val="14171A"/>
                </a:solidFill>
                <a:latin typeface="Segoe UI"/>
              </a:rPr>
              <a:t>Gauteng's 2023 file</a:t>
            </a:r>
            <a:r>
              <a:rPr sz="1300" b="0">
                <a:solidFill>
                  <a:srgbClr val="3D4248"/>
                </a:solidFill>
                <a:latin typeface="Segoe UI"/>
              </a:rPr>
              <a:t> has its key column headed "G". Three thousand schools vanish.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39242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300" b="1">
                <a:solidFill>
                  <a:srgbClr val="14171A"/>
                </a:solidFill>
                <a:latin typeface="Segoe UI"/>
              </a:rPr>
              <a:t>724 schools sit at latitude zero</a:t>
            </a:r>
            <a:r>
              <a:rPr sz="1300" b="0">
                <a:solidFill>
                  <a:srgbClr val="3D4248"/>
                </a:solidFill>
                <a:latin typeface="Segoe UI"/>
              </a:rPr>
              <a:t> — a point in the Atlantic Ocean.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00" b="1">
                <a:solidFill>
                  <a:srgbClr val="14171A"/>
                </a:solidFill>
                <a:latin typeface="Segoe UI"/>
              </a:rPr>
              <a:t>Phase appears in 21 spellings</a:t>
            </a:r>
            <a:r>
              <a:rPr sz="1300" b="0">
                <a:solidFill>
                  <a:srgbClr val="3D4248"/>
                </a:solidFill>
                <a:latin typeface="Segoe UI"/>
              </a:rPr>
              <a:t>, quintile in 17, the fee flag in 11.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00" b="1">
                <a:solidFill>
                  <a:srgbClr val="14171A"/>
                </a:solidFill>
                <a:latin typeface="Segoe UI"/>
              </a:rPr>
              <a:t>8,792 schools change</a:t>
            </a:r>
            <a:r>
              <a:rPr sz="1300" b="0">
                <a:solidFill>
                  <a:srgbClr val="3D4248"/>
                </a:solidFill>
                <a:latin typeface="Segoe UI"/>
              </a:rPr>
              <a:t> their recorded phase between years.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468112"/>
            <a:ext cx="10637215" cy="749808"/>
          </a:xfrm>
          <a:prstGeom prst="roundRect">
            <a:avLst>
              <a:gd name="adj" fmla="val 6000"/>
            </a:avLst>
          </a:prstGeom>
          <a:solidFill>
            <a:srgbClr val="14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8136" y="5660136"/>
            <a:ext cx="1001542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1">
                <a:solidFill>
                  <a:srgbClr val="EB6834"/>
                </a:solidFill>
                <a:latin typeface="Segoe UI"/>
              </a:rPr>
              <a:t>Not one of them raises an error. </a:t>
            </a:r>
            <a:r>
              <a:rPr sz="1350" b="0">
                <a:solidFill>
                  <a:srgbClr val="D8DCE1"/>
                </a:solidFill>
                <a:latin typeface="Segoe UI"/>
              </a:rPr>
              <a:t>The files open, the row counts look reasonable, the totals look plausible. A crash gets noticed within the hour; a province that quietly becomes two survives into a published finding.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67C85"/>
                </a:solidFill>
                <a:latin typeface="Segoe UI"/>
              </a:rPr>
              <a:t>The Missing List  ·  DataQuest  ·  Education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00055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67C85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767C85"/>
                </a:solidFill>
                <a:latin typeface="Segoe UI"/>
              </a:rPr>
              <a:t>THE SAME STANDARD, APPLIED TO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859536"/>
            <a:ext cx="658368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60704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>
                <a:solidFill>
                  <a:srgbClr val="14171A"/>
                </a:solidFill>
                <a:latin typeface="Segoe UI"/>
              </a:rPr>
              <a:t>We audited our own work, and it failed too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60350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1400"/>
              </a:spcAft>
            </a:pPr>
            <a:r>
              <a:rPr sz="1600" b="0">
                <a:solidFill>
                  <a:srgbClr val="3D4248"/>
                </a:solidFill>
                <a:latin typeface="Segoe UI"/>
              </a:rPr>
              <a:t>Our first PDF parser trusted each report's header as the layout for the whole file. The reports do not work that way.</a:t>
            </a:r>
          </a:p>
          <a:p>
            <a:pPr>
              <a:lnSpc>
                <a:spcPct val="134000"/>
              </a:lnSpc>
              <a:spcAft>
                <a:spcPts val="1400"/>
              </a:spcAft>
            </a:pPr>
            <a:r>
              <a:rPr sz="1600" b="1">
                <a:solidFill>
                  <a:srgbClr val="CF222E"/>
                </a:solidFill>
                <a:latin typeface="Segoe UI"/>
              </a:rPr>
              <a:t>It produced 14,005 records</a:t>
            </a:r>
            <a:r>
              <a:rPr sz="1600" b="0">
                <a:solidFill>
                  <a:srgbClr val="3D4248"/>
                </a:solidFill>
                <a:latin typeface="Segoe UI"/>
              </a:rPr>
              <a:t> claiming more learners were advanced into matric than sat the exam, and silently destroyed the pass-rate column.</a:t>
            </a:r>
          </a:p>
          <a:p>
            <a:pPr>
              <a:lnSpc>
                <a:spcPct val="134000"/>
              </a:lnSpc>
              <a:spcAft>
                <a:spcPts val="1400"/>
              </a:spcAft>
            </a:pPr>
            <a:r>
              <a:rPr sz="1600" b="0">
                <a:solidFill>
                  <a:srgbClr val="3D4248"/>
                </a:solidFill>
                <a:latin typeface="Segoe UI"/>
              </a:rPr>
              <a:t>So we removed pass rate from the model and wrote a comment explaining why. </a:t>
            </a:r>
            <a:r>
              <a:rPr sz="1600" b="1">
                <a:solidFill>
                  <a:srgbClr val="14171A"/>
                </a:solidFill>
                <a:latin typeface="Segoe UI"/>
              </a:rPr>
              <a:t>The comment was wrong. The evidence behind it was our own bug.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9480" y="1700784"/>
            <a:ext cx="4144975" cy="1481328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938528"/>
            <a:ext cx="359633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767C85"/>
                </a:solidFill>
                <a:latin typeface="Segoe UI"/>
              </a:rPr>
              <a:t>After the fix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700" b="1">
                <a:solidFill>
                  <a:srgbClr val="14171A"/>
                </a:solidFill>
                <a:latin typeface="Segoe UI"/>
              </a:rPr>
              <a:t>pass rate  0%  →  88.4%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767C85"/>
                </a:solidFill>
                <a:latin typeface="Segoe UI"/>
              </a:rPr>
              <a:t>coverage of the matric column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3328416"/>
            <a:ext cx="4144975" cy="1481328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3566160"/>
            <a:ext cx="359633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767C85"/>
                </a:solidFill>
                <a:latin typeface="Segoe UI"/>
              </a:rPr>
              <a:t>And the model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700" b="1">
                <a:solidFill>
                  <a:srgbClr val="14171A"/>
                </a:solidFill>
                <a:latin typeface="Segoe UI"/>
              </a:rPr>
              <a:t>AUC  0.654  →  </a:t>
            </a:r>
            <a:r>
              <a:rPr sz="1700" b="1">
                <a:solidFill>
                  <a:srgbClr val="1A7F37"/>
                </a:solidFill>
                <a:latin typeface="Segoe UI"/>
              </a:rPr>
              <a:t>0.694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767C85"/>
                </a:solidFill>
                <a:latin typeface="Segoe UI"/>
              </a:rPr>
              <a:t>pass rate is now its strongest variable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68112"/>
            <a:ext cx="10637215" cy="749808"/>
          </a:xfrm>
          <a:prstGeom prst="roundRect">
            <a:avLst>
              <a:gd name="adj" fmla="val 6000"/>
            </a:avLst>
          </a:prstGeom>
          <a:solidFill>
            <a:srgbClr val="14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5660136"/>
            <a:ext cx="1001542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0">
                <a:solidFill>
                  <a:srgbClr val="D8DCE1"/>
                </a:solidFill>
                <a:latin typeface="Segoe UI"/>
              </a:rPr>
              <a:t>The fix is verified by arithmetic the source itself prints: </a:t>
            </a:r>
            <a:r>
              <a:rPr sz="1350" b="1">
                <a:solidFill>
                  <a:srgbClr val="EB6834"/>
                </a:solidFill>
                <a:latin typeface="Segoe UI"/>
              </a:rPr>
              <a:t>where a report gives both the achieved count and the pass rate, the rate must equal achieved ÷ wrote. It holds on 82,979 of 82,979 checkable records.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67C85"/>
                </a:solidFill>
                <a:latin typeface="Segoe UI"/>
              </a:rPr>
              <a:t>The Missing List  ·  DataQuest  ·  Education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67C85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767C85"/>
                </a:solidFill>
                <a:latin typeface="Segoe UI"/>
              </a:rPr>
              <a:t>DATA INCLUSION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859536"/>
            <a:ext cx="658368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60704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>
                <a:solidFill>
                  <a:srgbClr val="14171A"/>
                </a:solidFill>
                <a:latin typeface="Segoe UI"/>
              </a:rPr>
              <a:t>Two public datasets, joined on one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0">
                <a:solidFill>
                  <a:srgbClr val="767C85"/>
                </a:solidFill>
                <a:latin typeface="Segoe UI"/>
              </a:rPr>
              <a:t>Published openly by the Department of Basic Education. No login, no licence, no NDA, no purchase.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76272"/>
            <a:ext cx="5181447" cy="2395728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14016"/>
            <a:ext cx="4632807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700" b="1">
                <a:solidFill>
                  <a:srgbClr val="14171A"/>
                </a:solidFill>
                <a:latin typeface="Segoe UI"/>
              </a:rPr>
              <a:t>EMIS School Masterlists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478,761 records  ·  29,655 schools  ·  2007–2025  ·  all 9 provinces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250" b="0">
                <a:solidFill>
                  <a:srgbClr val="3D4248"/>
                </a:solidFill>
                <a:latin typeface="Segoe UI"/>
              </a:rPr>
              <a:t>Enrolment, educators, quintile, fee status, phase, district, coordinates. Built from 140 provincial spreadsheets.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767C85"/>
                </a:solidFill>
                <a:latin typeface="Segoe UI"/>
              </a:rPr>
              <a:t>education.gov.za › Programmes › EMIS Downloads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2176272"/>
            <a:ext cx="5181447" cy="2395728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7327" y="2414016"/>
            <a:ext cx="4632807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700" b="1">
                <a:solidFill>
                  <a:srgbClr val="14171A"/>
                </a:solidFill>
                <a:latin typeface="Segoe UI"/>
              </a:rPr>
              <a:t>NSC School Performance Reports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93,846 records  ·  8,093 schools  ·  2008–2024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250" b="0">
                <a:solidFill>
                  <a:srgbClr val="3D4248"/>
                </a:solidFill>
                <a:latin typeface="Segoe UI"/>
              </a:rPr>
              <a:t>Candidates who wrote, achieved, the pass rate, and learners progressed without meeting requirements. Extracted by us from 13 PDFs — the department publishes no machine-readable version.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767C85"/>
                </a:solidFill>
                <a:latin typeface="Segoe UI"/>
              </a:rPr>
              <a:t>education.gov.za › Resources › Reports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8172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300" b="1">
                <a:solidFill>
                  <a:srgbClr val="14171A"/>
                </a:solidFill>
                <a:latin typeface="Segoe UI"/>
              </a:rPr>
              <a:t>Joined on the EMIS number,</a:t>
            </a:r>
            <a:r>
              <a:rPr sz="1300" b="0">
                <a:solidFill>
                  <a:srgbClr val="3D4248"/>
                </a:solidFill>
                <a:latin typeface="Segoe UI"/>
              </a:rPr>
              <a:t> normalised to bare digits first — it is published both with and without a leading zero, and getting it wrong fails the join silently rather than loudly.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00" b="1">
                <a:solidFill>
                  <a:srgbClr val="14171A"/>
                </a:solidFill>
                <a:latin typeface="Segoe UI"/>
              </a:rPr>
              <a:t>Matric evidence is carried forward only,</a:t>
            </a:r>
            <a:r>
              <a:rPr sz="1300" b="0">
                <a:solidFill>
                  <a:srgbClr val="3D4248"/>
                </a:solidFill>
                <a:latin typeface="Segoe UI"/>
              </a:rPr>
              <a:t> never backward, with an age marker so a stale figure can be discounted. Carrying it backward would be reading the future.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00" b="1">
                <a:solidFill>
                  <a:srgbClr val="14171A"/>
                </a:solidFill>
                <a:latin typeface="Segoe UI"/>
              </a:rPr>
              <a:t>Raw source files are committed</a:t>
            </a:r>
            <a:r>
              <a:rPr sz="1300" b="0">
                <a:solidFill>
                  <a:srgbClr val="3D4248"/>
                </a:solidFill>
                <a:latin typeface="Segoe UI"/>
              </a:rPr>
              <a:t> alongside the code, so the extraction can be checked rather than taken on trust.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67C85"/>
                </a:solidFill>
                <a:latin typeface="Segoe UI"/>
              </a:rPr>
              <a:t>The Missing List  ·  DataQuest  ·  Education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67C85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767C85"/>
                </a:solidFill>
                <a:latin typeface="Segoe UI"/>
              </a:rPr>
              <a:t>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859536"/>
            <a:ext cx="658368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60704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>
                <a:solidFill>
                  <a:srgbClr val="14171A"/>
                </a:solidFill>
                <a:latin typeface="Segoe UI"/>
              </a:rPr>
              <a:t>What the machine learning actually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0">
                <a:solidFill>
                  <a:srgbClr val="767C85"/>
                </a:solidFill>
                <a:latin typeface="Segoe UI"/>
              </a:rPr>
              <a:t>Two supervised models were trained. The choice between them is the most consequential decision in the project.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87168"/>
            <a:ext cx="5199735" cy="1298448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2670048"/>
            <a:ext cx="468767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4171A"/>
                </a:solidFill>
                <a:latin typeface="Segoe UI"/>
              </a:rPr>
              <a:t>Supervised learning</a:t>
            </a:r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4248"/>
                </a:solidFill>
                <a:latin typeface="Segoe UI"/>
              </a:rPr>
              <a:t>Learns from 61,485 historical school-years where the outcome is already known. Nothing is rule-based — the weights are fitted from data, not chosen by 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4719" y="2487168"/>
            <a:ext cx="5199735" cy="1298448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0751" y="2670048"/>
            <a:ext cx="468767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4171A"/>
                </a:solidFill>
                <a:latin typeface="Segoe UI"/>
              </a:rPr>
              <a:t>Feature engineering</a:t>
            </a:r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4248"/>
                </a:solidFill>
                <a:latin typeface="Segoe UI"/>
              </a:rPr>
              <a:t>Raw registers become 31 candidate variables: enrolment trajectory, volatility, share of own peak, learners per educator, what neighbouring schools do, matric throughput. 15 survive into the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968496"/>
            <a:ext cx="5199735" cy="1298448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4151376"/>
            <a:ext cx="468767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4171A"/>
                </a:solidFill>
                <a:latin typeface="Segoe UI"/>
              </a:rPr>
              <a:t>Weight of Evidence</a:t>
            </a:r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4248"/>
                </a:solidFill>
                <a:latin typeface="Segoe UI"/>
              </a:rPr>
              <a:t>Each variable is binned and re-expressed as the log-odds of loss it carries — letting a linear model capture non-linear risk and treat missing data as its own informative category.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4719" y="3968496"/>
            <a:ext cx="5199735" cy="1298448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0751" y="4151376"/>
            <a:ext cx="468767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4171A"/>
                </a:solidFill>
                <a:latin typeface="Segoe UI"/>
              </a:rPr>
              <a:t>Calibrated probabilities</a:t>
            </a:r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4248"/>
                </a:solidFill>
                <a:latin typeface="Segoe UI"/>
              </a:rPr>
              <a:t>Isotonic regression maps scores onto real observed rates, so a school at 0.30 loses learners about 30% of the time. Ranking gives order; calibration tells a planner how far their budget reaches.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504688"/>
            <a:ext cx="10637215" cy="694944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5669280"/>
            <a:ext cx="1005199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00" b="1">
                <a:solidFill>
                  <a:srgbClr val="14171A"/>
                </a:solidFill>
                <a:latin typeface="Segoe UI"/>
              </a:rPr>
              <a:t>Split by year, never at random. </a:t>
            </a:r>
            <a:r>
              <a:rPr sz="1300" b="0">
                <a:solidFill>
                  <a:srgbClr val="3D4248"/>
                </a:solidFill>
                <a:latin typeface="Segoe UI"/>
              </a:rPr>
              <a:t>Trained on 61,485 school-years (2008–2016), tuned on 15,357 (2018–2019), measured once on 23,043 (2021–2023). A school recurs across years, so a random split would train and test on the same school.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67C85"/>
                </a:solidFill>
                <a:latin typeface="Segoe UI"/>
              </a:rPr>
              <a:t>The Missing List  ·  DataQuest  ·  Education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67C85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767C85"/>
                </a:solidFill>
                <a:latin typeface="Segoe UI"/>
              </a:rP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859536"/>
            <a:ext cx="658368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60704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>
                <a:solidFill>
                  <a:srgbClr val="14171A"/>
                </a:solidFill>
                <a:latin typeface="Segoe UI"/>
              </a:rPr>
              <a:t>Measured once, on years the model never saw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0">
                <a:solidFill>
                  <a:srgbClr val="767C85"/>
                </a:solidFill>
                <a:latin typeface="Segoe UI"/>
              </a:rPr>
              <a:t>2021–2023. No refitting, no threshold tuning after the 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76272"/>
            <a:ext cx="2522143" cy="1170432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359152"/>
            <a:ext cx="211980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4171A"/>
                </a:solidFill>
                <a:latin typeface="Segoe UI"/>
              </a:rPr>
              <a:t>0.694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862072"/>
            <a:ext cx="2119807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767C85"/>
                </a:solidFill>
                <a:latin typeface="Segoe UI"/>
              </a:rPr>
              <a:t>AUC on unseen years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2263" y="2176272"/>
            <a:ext cx="2522143" cy="1170432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3431" y="2359152"/>
            <a:ext cx="211980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4171A"/>
                </a:solidFill>
                <a:latin typeface="Segoe UI"/>
              </a:rPr>
              <a:t>0.388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3431" y="2862072"/>
            <a:ext cx="2119807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767C85"/>
                </a:solidFill>
                <a:latin typeface="Segoe UI"/>
              </a:rPr>
              <a:t>Gini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2176272"/>
            <a:ext cx="2522143" cy="1170432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8455" y="2359152"/>
            <a:ext cx="211980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4171A"/>
                </a:solidFill>
                <a:latin typeface="Segoe UI"/>
              </a:rPr>
              <a:t>0.281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8455" y="2862072"/>
            <a:ext cx="2119807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767C85"/>
                </a:solidFill>
                <a:latin typeface="Segoe UI"/>
              </a:rPr>
              <a:t>KS statistic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92311" y="2176272"/>
            <a:ext cx="2522143" cy="1170432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3479" y="2359152"/>
            <a:ext cx="211980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B6834"/>
                </a:solidFill>
                <a:latin typeface="Segoe UI"/>
              </a:rPr>
              <a:t>2.34×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3479" y="2862072"/>
            <a:ext cx="2119807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767C85"/>
                </a:solidFill>
                <a:latin typeface="Segoe UI"/>
              </a:rPr>
              <a:t>lift in the worst tenth</a:t>
            </a:r>
          </a:p>
        </p:txBody>
      </p:sp>
      <p:pic>
        <p:nvPicPr>
          <p:cNvPr id="18" name="Picture 17" descr="fig8_decile_lift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630168"/>
            <a:ext cx="5486400" cy="23317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7960" y="3675888"/>
            <a:ext cx="48764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300" b="1">
                <a:solidFill>
                  <a:srgbClr val="14171A"/>
                </a:solidFill>
                <a:latin typeface="Segoe UI"/>
              </a:rPr>
              <a:t>Worst tenth loses at 28.5%</a:t>
            </a:r>
            <a:r>
              <a:rPr sz="1300" b="0">
                <a:solidFill>
                  <a:srgbClr val="3D4248"/>
                </a:solidFill>
                <a:latin typeface="Segoe UI"/>
              </a:rPr>
              <a:t> against 2.43% in the best tenth — the schools it ranks worst really are the ones losing learners.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300" b="1">
                <a:solidFill>
                  <a:srgbClr val="14171A"/>
                </a:solidFill>
                <a:latin typeface="Segoe UI"/>
              </a:rPr>
              <a:t>Recall 53% at the threshold.</a:t>
            </a:r>
            <a:r>
              <a:rPr sz="1300" b="0">
                <a:solidFill>
                  <a:srgbClr val="3D4248"/>
                </a:solidFill>
                <a:latin typeface="Segoe UI"/>
              </a:rPr>
              <a:t> A missed school gets nothing; a false alarm gets a visit. Those costs are not symmetric.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5102352"/>
            <a:ext cx="4876495" cy="1005840"/>
          </a:xfrm>
          <a:prstGeom prst="roundRect">
            <a:avLst>
              <a:gd name="adj" fmla="val 6000"/>
            </a:avLst>
          </a:prstGeom>
          <a:solidFill>
            <a:srgbClr val="FFF8EC"/>
          </a:solidFill>
          <a:ln w="12700">
            <a:solidFill>
              <a:srgbClr val="F0D9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5285232"/>
            <a:ext cx="436443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50" b="1">
                <a:solidFill>
                  <a:srgbClr val="EB6834"/>
                </a:solidFill>
                <a:latin typeface="Segoe UI"/>
              </a:rPr>
              <a:t>Accuracy is our weakest number and we say so. </a:t>
            </a:r>
            <a:r>
              <a:rPr sz="1150" b="0">
                <a:solidFill>
                  <a:srgbClr val="3D4248"/>
                </a:solidFill>
                <a:latin typeface="Segoe UI"/>
              </a:rPr>
              <a:t>At 71% it is below the 88% you score by predicting nobody ever loses learners — a model that identifies no one. That is why we lead with lift.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67C85"/>
                </a:solidFill>
                <a:latin typeface="Segoe UI"/>
              </a:rPr>
              <a:t>The Missing List  ·  DataQuest  ·  Education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00055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67C85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767C85"/>
                </a:solidFill>
                <a:latin typeface="Segoe UI"/>
              </a:rPr>
              <a:t>THE DECISION WE HAD TO DEFEND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859536"/>
            <a:ext cx="658368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60704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>
                <a:solidFill>
                  <a:srgbClr val="14171A"/>
                </a:solidFill>
                <a:latin typeface="Segoe UI"/>
              </a:rPr>
              <a:t>A better-ranking model exists. It is not what we ship.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00784"/>
            <a:ext cx="5181447" cy="2286000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38528"/>
            <a:ext cx="4596231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SHIPPED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4171A"/>
                </a:solidFill>
                <a:latin typeface="Segoe UI"/>
              </a:rPr>
              <a:t>Logistic Regression Scorecard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14171A"/>
                </a:solidFill>
                <a:latin typeface="Segoe UI"/>
              </a:rPr>
              <a:t>AUC 0.6939</a:t>
            </a:r>
            <a:r>
              <a:rPr sz="1400" b="0">
                <a:solidFill>
                  <a:srgbClr val="767C85"/>
                </a:solidFill>
                <a:latin typeface="Segoe UI"/>
              </a:rPr>
              <a:t>   ·   </a:t>
            </a:r>
            <a:r>
              <a:rPr sz="1400" b="0">
                <a:solidFill>
                  <a:srgbClr val="3D4248"/>
                </a:solidFill>
                <a:latin typeface="Segoe UI"/>
              </a:rPr>
              <a:t>lift 2.34×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3D4248"/>
                </a:solidFill>
                <a:latin typeface="Segoe UI"/>
              </a:rPr>
              <a:t>Every score breaks into visible points. A school can be told it lost 37 points for its matric pass 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700784"/>
            <a:ext cx="5181447" cy="2286000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5615" y="1938528"/>
            <a:ext cx="4596231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767C85"/>
                </a:solidFill>
                <a:latin typeface="Segoe UI"/>
              </a:rPr>
              <a:t>BENCHMARK, NOT SHIPPED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4171A"/>
                </a:solidFill>
                <a:latin typeface="Segoe UI"/>
              </a:rPr>
              <a:t>Calibrated Random Forest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1A7F37"/>
                </a:solidFill>
                <a:latin typeface="Segoe UI"/>
              </a:rPr>
              <a:t>AUC 0.7161</a:t>
            </a:r>
            <a:r>
              <a:rPr sz="1400" b="0">
                <a:solidFill>
                  <a:srgbClr val="767C85"/>
                </a:solidFill>
                <a:latin typeface="Segoe UI"/>
              </a:rPr>
              <a:t>   ·   </a:t>
            </a:r>
            <a:r>
              <a:rPr sz="1400" b="0">
                <a:solidFill>
                  <a:srgbClr val="3D4248"/>
                </a:solidFill>
                <a:latin typeface="Segoe UI"/>
              </a:rPr>
              <a:t>lift 2.46×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3D4248"/>
                </a:solidFill>
                <a:latin typeface="Segoe UI"/>
              </a:rPr>
              <a:t>Ranks better and cannot tell a school why it was flagged. Trained on the identical frame and split.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24528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00" b="1">
                <a:solidFill>
                  <a:srgbClr val="14171A"/>
                </a:solidFill>
                <a:latin typeface="Segoe UI"/>
              </a:rPr>
              <a:t>The gap is 0.022 AUC, and we publish it. </a:t>
            </a:r>
            <a:r>
              <a:rPr sz="1500" b="0">
                <a:solidFill>
                  <a:srgbClr val="3D4248"/>
                </a:solidFill>
                <a:latin typeface="Segoe UI"/>
              </a:rPr>
              <a:t>This output directs public money. Whoever must justify the spend has to explain it line by line — to a treasury, a community, or a school that disagrees with its ranking. That is worth more than two hundredths of a ranking statistic, and stating the price makes the choice defensible rather than merely asserted.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86400"/>
            <a:ext cx="10637215" cy="731520"/>
          </a:xfrm>
          <a:prstGeom prst="roundRect">
            <a:avLst>
              <a:gd name="adj" fmla="val 6000"/>
            </a:avLst>
          </a:prstGeom>
          <a:solidFill>
            <a:srgbClr val="14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5669280"/>
            <a:ext cx="1001542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00" b="0">
                <a:solidFill>
                  <a:srgbClr val="D8DCE1"/>
                </a:solidFill>
                <a:latin typeface="Segoe UI"/>
              </a:rPr>
              <a:t>We also measured the mistakes that inflate a model silently. </a:t>
            </a:r>
            <a:r>
              <a:rPr sz="1300" b="1">
                <a:solidFill>
                  <a:srgbClr val="EB6834"/>
                </a:solidFill>
                <a:latin typeface="Segoe UI"/>
              </a:rPr>
              <a:t>A random split lifts the tree from 0.692 to 0.731 — it has learned to recognise schools, not predict them.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67C85"/>
                </a:solidFill>
                <a:latin typeface="Segoe UI"/>
              </a:rPr>
              <a:t>The Missing List  ·  DataQuest  ·  Education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67C85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767C85"/>
                </a:solidFill>
                <a:latin typeface="Segoe UI"/>
              </a:rPr>
              <a:t>THE PRODUCT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859536"/>
            <a:ext cx="658368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60704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>
                <a:solidFill>
                  <a:srgbClr val="14171A"/>
                </a:solidFill>
                <a:latin typeface="Segoe UI"/>
              </a:rPr>
              <a:t>A ranked list, and a reason beside every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0">
                <a:solidFill>
                  <a:srgbClr val="767C85"/>
                </a:solidFill>
                <a:latin typeface="Segoe UI"/>
              </a:rPr>
              <a:t>A planner filters to their province and sees what to work first — a morning's decision instead of a year's guesswork.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87168"/>
            <a:ext cx="5943600" cy="2651760"/>
          </a:xfrm>
          <a:prstGeom prst="roundRect">
            <a:avLst>
              <a:gd name="adj" fmla="val 6000"/>
            </a:avLst>
          </a:prstGeom>
          <a:solidFill>
            <a:srgbClr val="14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2761488"/>
            <a:ext cx="53035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A8B0BA"/>
                </a:solidFill>
                <a:latin typeface="Segoe UI"/>
              </a:rPr>
              <a:t>RANK 1 OF 7,681  ·  Vhembe East, Limpopo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Ntevhedzeni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00" b="0">
                <a:solidFill>
                  <a:srgbClr val="D8DCE1"/>
                </a:solidFill>
                <a:latin typeface="Segoe UI"/>
              </a:rPr>
              <a:t>111 learners</a:t>
            </a:r>
            <a:r>
              <a:rPr sz="1300" b="0">
                <a:solidFill>
                  <a:srgbClr val="767C85"/>
                </a:solidFill>
                <a:latin typeface="Segoe UI"/>
              </a:rPr>
              <a:t>     </a:t>
            </a:r>
            <a:r>
              <a:rPr sz="1300" b="1">
                <a:solidFill>
                  <a:srgbClr val="EB6834"/>
                </a:solidFill>
                <a:latin typeface="Segoe UI"/>
              </a:rPr>
              <a:t>48% risk of losing learners faster than its province by 2027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A8B0BA"/>
                </a:solidFill>
                <a:latin typeface="Segoe UI"/>
              </a:rPr>
              <a:t>Against a national base rate of 12.2%.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2487168"/>
            <a:ext cx="4419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767C85"/>
                </a:solidFill>
                <a:latin typeface="Segoe UI"/>
              </a:rPr>
              <a:t>WHY THIS SCHOOL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2852928"/>
            <a:ext cx="4419295" cy="512064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14616" y="2990088"/>
            <a:ext cx="398038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14171A"/>
                </a:solidFill>
                <a:latin typeface="Segoe UI"/>
              </a:rPr>
              <a:t>matric pass rate: below 42.8</a:t>
            </a:r>
            <a:r>
              <a:rPr sz="1250" b="0">
                <a:solidFill>
                  <a:srgbClr val="767C85"/>
                </a:solidFill>
                <a:latin typeface="Segoe UI"/>
              </a:rPr>
              <a:t>   </a:t>
            </a:r>
            <a:r>
              <a:rPr sz="1250" b="1">
                <a:solidFill>
                  <a:srgbClr val="EB6834"/>
                </a:solidFill>
                <a:latin typeface="Segoe UI"/>
              </a:rPr>
              <a:t>(-37 pts)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3456432"/>
            <a:ext cx="4419295" cy="512064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14616" y="3593592"/>
            <a:ext cx="398038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14171A"/>
                </a:solidFill>
                <a:latin typeface="Segoe UI"/>
              </a:rPr>
              <a:t>enrolment volatility: 0.21 or more</a:t>
            </a:r>
            <a:r>
              <a:rPr sz="1250" b="0">
                <a:solidFill>
                  <a:srgbClr val="767C85"/>
                </a:solidFill>
                <a:latin typeface="Segoe UI"/>
              </a:rPr>
              <a:t>   </a:t>
            </a:r>
            <a:r>
              <a:rPr sz="1250" b="1">
                <a:solidFill>
                  <a:srgbClr val="EB6834"/>
                </a:solidFill>
                <a:latin typeface="Segoe UI"/>
              </a:rPr>
              <a:t>(-17 pts)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4059936"/>
            <a:ext cx="4419295" cy="512064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14616" y="4197096"/>
            <a:ext cx="398038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14171A"/>
                </a:solidFill>
                <a:latin typeface="Segoe UI"/>
              </a:rPr>
              <a:t>school size (learners): below 225</a:t>
            </a:r>
            <a:r>
              <a:rPr sz="1250" b="0">
                <a:solidFill>
                  <a:srgbClr val="767C85"/>
                </a:solidFill>
                <a:latin typeface="Segoe UI"/>
              </a:rPr>
              <a:t>   </a:t>
            </a:r>
            <a:r>
              <a:rPr sz="1250" b="1">
                <a:solidFill>
                  <a:srgbClr val="EB6834"/>
                </a:solidFill>
                <a:latin typeface="Segoe UI"/>
              </a:rPr>
              <a:t>(-13 pts)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4773168"/>
            <a:ext cx="4419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D4248"/>
                </a:solidFill>
                <a:latin typeface="Segoe UI"/>
              </a:rPr>
              <a:t>That is the whole score. A school flagged for a pass-rate reason needs different help from one flagged for a staffing reason.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5955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14171A"/>
                </a:solidFill>
                <a:latin typeface="Segoe UI"/>
              </a:rPr>
              <a:t>Coverage, stated plainly: </a:t>
            </a:r>
            <a:r>
              <a:rPr sz="1300" b="0">
                <a:solidFill>
                  <a:srgbClr val="3D4248"/>
                </a:solidFill>
                <a:latin typeface="Segoe UI"/>
              </a:rPr>
              <a:t>8 provinces, not 9. The Northern Cape published a Word template where its 2025 masterlist should be — a fault our own audit found, not one we introduced. The model covers all nine; the register covers the eight that published.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67C85"/>
                </a:solidFill>
                <a:latin typeface="Segoe UI"/>
              </a:rPr>
              <a:t>The Missing List  ·  DataQuest  ·  Education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67C85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767C85"/>
                </a:solidFill>
                <a:latin typeface="Segoe UI"/>
              </a:rPr>
              <a:t>SYSTEM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859536"/>
            <a:ext cx="658368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60704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>
                <a:solidFill>
                  <a:srgbClr val="14171A"/>
                </a:solidFill>
                <a:latin typeface="Segoe UI"/>
              </a:rPr>
              <a:t>It holds nothing worth stealing —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0">
                <a:solidFill>
                  <a:srgbClr val="767C85"/>
                </a:solidFill>
                <a:latin typeface="Segoe UI"/>
              </a:rPr>
              <a:t>Confidentiality is the easy half. The half that needs controls is integrity.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76272"/>
            <a:ext cx="2522143" cy="960120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359152"/>
            <a:ext cx="211980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A7F37"/>
                </a:solidFill>
                <a:latin typeface="Segoe UI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862072"/>
            <a:ext cx="2119807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767C85"/>
                </a:solidFill>
                <a:latin typeface="Segoe UI"/>
              </a:rPr>
              <a:t>personal records held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2263" y="2176272"/>
            <a:ext cx="2522143" cy="960120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3431" y="2359152"/>
            <a:ext cx="211980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4171A"/>
                </a:solidFill>
                <a:latin typeface="Segoe UI"/>
              </a:rPr>
              <a:t>School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3431" y="2862072"/>
            <a:ext cx="2119807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767C85"/>
                </a:solidFill>
                <a:latin typeface="Segoe UI"/>
              </a:rPr>
              <a:t>smallest unit of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2176272"/>
            <a:ext cx="2522143" cy="960120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8455" y="2359152"/>
            <a:ext cx="211980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A7F37"/>
                </a:solidFill>
                <a:latin typeface="Segoe U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8455" y="2862072"/>
            <a:ext cx="2119807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767C85"/>
                </a:solidFill>
                <a:latin typeface="Segoe UI"/>
              </a:rPr>
              <a:t>executable model artefacts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92311" y="2176272"/>
            <a:ext cx="2522143" cy="960120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3479" y="2359152"/>
            <a:ext cx="211980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4171A"/>
                </a:solidFill>
                <a:latin typeface="Segoe UI"/>
              </a:rPr>
              <a:t>Public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3479" y="2862072"/>
            <a:ext cx="2119807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767C85"/>
                </a:solidFill>
                <a:latin typeface="Segoe UI"/>
              </a:rPr>
              <a:t>every source — nothing to steal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74136"/>
            <a:ext cx="5199735" cy="1005840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" y="3520440"/>
            <a:ext cx="4724247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4171A"/>
                </a:solidFill>
                <a:latin typeface="Segoe UI"/>
              </a:rPr>
              <a:t>No personal information</a:t>
            </a:r>
          </a:p>
          <a:p>
            <a:pPr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3D4248"/>
                </a:solidFill>
                <a:latin typeface="Segoe UI"/>
              </a:rPr>
              <a:t>Learner records are protected under POPIA and a hackathon team has no lawful basis to process them. A tool that names children creates a register of vulnerable minors.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4719" y="3374136"/>
            <a:ext cx="5199735" cy="1005840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2463" y="3520440"/>
            <a:ext cx="4724247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4171A"/>
                </a:solidFill>
                <a:latin typeface="Segoe UI"/>
              </a:rPr>
              <a:t>Input validation at the boundary</a:t>
            </a:r>
          </a:p>
          <a:p>
            <a:pPr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3D4248"/>
                </a:solidFill>
                <a:latin typeface="Segoe UI"/>
              </a:rPr>
              <a:t>Every download is checked against its format's magic bytes before it is written. A portal returning an HTML error page under a spreadsheet's filename is routine, and is rejected.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489704"/>
            <a:ext cx="5199735" cy="1005840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" y="4636008"/>
            <a:ext cx="4724247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4171A"/>
                </a:solidFill>
                <a:latin typeface="Segoe UI"/>
              </a:rPr>
              <a:t>Nothing executable ships</a:t>
            </a:r>
          </a:p>
          <a:p>
            <a:pPr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3D4248"/>
                </a:solidFill>
                <a:latin typeface="Segoe UI"/>
              </a:rPr>
              <a:t>The model is model.json — inert data. No pickle, no joblib, no eval. Loading a pickled model executes what is inside 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4719" y="4489704"/>
            <a:ext cx="5199735" cy="1005840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2463" y="4636008"/>
            <a:ext cx="4724247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4171A"/>
                </a:solidFill>
                <a:latin typeface="Segoe UI"/>
              </a:rPr>
              <a:t>The audit is an integrity control</a:t>
            </a:r>
          </a:p>
          <a:p>
            <a:pPr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3D4248"/>
                </a:solidFill>
                <a:latin typeface="Segoe UI"/>
              </a:rPr>
              <a:t>Seven detectors already catch corrupted, truncated or altered source files. They caught our own parser producing 14,005 impossible records.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641848"/>
            <a:ext cx="10637215" cy="621792"/>
          </a:xfrm>
          <a:prstGeom prst="roundRect">
            <a:avLst>
              <a:gd name="adj" fmla="val 6000"/>
            </a:avLst>
          </a:prstGeom>
          <a:solidFill>
            <a:srgbClr val="FFF8EC"/>
          </a:solidFill>
          <a:ln w="12700">
            <a:solidFill>
              <a:srgbClr val="F0D9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788152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00" b="1">
                <a:solidFill>
                  <a:srgbClr val="EB6834"/>
                </a:solidFill>
                <a:latin typeface="Segoe UI"/>
              </a:rPr>
              <a:t>The gap we have not closed: </a:t>
            </a:r>
            <a:r>
              <a:rPr sz="1200" b="0">
                <a:solidFill>
                  <a:srgbClr val="3D4248"/>
                </a:solidFill>
                <a:latin typeface="Segoe UI"/>
              </a:rPr>
              <a:t>dependencies are minimum-pinned but not hash-locked. A departmental deployment needs a lockfile and an internal mirror. A security section with no gap in it has not been written honestly.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67C85"/>
                </a:solidFill>
                <a:latin typeface="Segoe UI"/>
              </a:rPr>
              <a:t>The Missing List  ·  DataQuest  ·  Education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00055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67C85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767C85"/>
                </a:solidFill>
                <a:latin typeface="Segoe UI"/>
              </a:rPr>
              <a:t>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859536"/>
            <a:ext cx="658368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60704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>
                <a:solidFill>
                  <a:srgbClr val="14171A"/>
                </a:solidFill>
                <a:latin typeface="Segoe UI"/>
              </a:rPr>
              <a:t>R612,000 a year, against what it prevents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0">
                <a:solidFill>
                  <a:srgbClr val="767C85"/>
                </a:solidFill>
                <a:latin typeface="Segoe UI"/>
              </a:rPr>
              <a:t>A tool for the people who allocate support — never sold to the schools that need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76272"/>
            <a:ext cx="2522143" cy="960120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359152"/>
            <a:ext cx="211980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4171A"/>
                </a:solidFill>
                <a:latin typeface="Segoe UI"/>
              </a:rPr>
              <a:t>R612k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862072"/>
            <a:ext cx="2119807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767C85"/>
                </a:solidFill>
                <a:latin typeface="Segoe UI"/>
              </a:rPr>
              <a:t>to run for a year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2263" y="2176272"/>
            <a:ext cx="2522143" cy="960120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3431" y="2359152"/>
            <a:ext cx="211980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4171A"/>
                </a:solidFill>
                <a:latin typeface="Segoe UI"/>
              </a:rPr>
              <a:t>R49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3431" y="2862072"/>
            <a:ext cx="2119807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767C85"/>
                </a:solidFill>
                <a:latin typeface="Segoe UI"/>
              </a:rPr>
              <a:t>per school scored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2176272"/>
            <a:ext cx="2522143" cy="960120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8455" y="2359152"/>
            <a:ext cx="211980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A7F37"/>
                </a:solidFill>
                <a:latin typeface="Segoe UI"/>
              </a:rPr>
              <a:t>R0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8455" y="2862072"/>
            <a:ext cx="2119807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767C85"/>
                </a:solidFill>
                <a:latin typeface="Segoe UI"/>
              </a:rPr>
              <a:t>data acquisition — all sources public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92311" y="2176272"/>
            <a:ext cx="2522143" cy="960120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3479" y="2359152"/>
            <a:ext cx="211980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B6834"/>
                </a:solidFill>
                <a:latin typeface="Segoe UI"/>
              </a:rPr>
              <a:t>4 provinces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3479" y="2862072"/>
            <a:ext cx="2119807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767C85"/>
                </a:solidFill>
                <a:latin typeface="Segoe UI"/>
              </a:rPr>
              <a:t>break-even, at R150k 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29000"/>
            <a:ext cx="56692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 b="1">
                <a:solidFill>
                  <a:srgbClr val="767C85"/>
                </a:solidFill>
                <a:latin typeface="Segoe UI"/>
              </a:rPr>
              <a:t>WHAT THE PROBLEM COSTS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50" b="1">
                <a:solidFill>
                  <a:srgbClr val="14171A"/>
                </a:solidFill>
                <a:latin typeface="Segoe UI"/>
              </a:rPr>
              <a:t>212,893 learners</a:t>
            </a:r>
            <a:r>
              <a:rPr sz="1350" b="0">
                <a:solidFill>
                  <a:srgbClr val="3D4248"/>
                </a:solidFill>
                <a:latin typeface="Segoe UI"/>
              </a:rPr>
              <a:t> sit in the 842 schools the register flags as priority.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50" b="1">
                <a:solidFill>
                  <a:srgbClr val="14171A"/>
                </a:solidFill>
                <a:latin typeface="Segoe UI"/>
              </a:rPr>
              <a:t>90 learners</a:t>
            </a:r>
            <a:r>
              <a:rPr sz="1350" b="0">
                <a:solidFill>
                  <a:srgbClr val="3D4248"/>
                </a:solidFill>
                <a:latin typeface="Segoe UI"/>
              </a:rPr>
              <a:t> is the median two-year drop at a flagged school that does lose them — measured across 2,807 such cases, not assumed.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50" b="1">
                <a:solidFill>
                  <a:srgbClr val="EB6834"/>
                </a:solidFill>
                <a:latin typeface="Segoe UI"/>
              </a:rPr>
              <a:t>~21,600 learners</a:t>
            </a:r>
            <a:r>
              <a:rPr sz="1350" b="0">
                <a:solidFill>
                  <a:srgbClr val="3D4248"/>
                </a:solidFill>
                <a:latin typeface="Segoe UI"/>
              </a:rPr>
              <a:t> is what that comes to across the 28.5% of the priority tier that loses.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429000"/>
            <a:ext cx="46936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 b="1">
                <a:solidFill>
                  <a:srgbClr val="767C85"/>
                </a:solidFill>
                <a:latin typeface="Segoe UI"/>
              </a:rPr>
              <a:t>WHO PAYS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Year 1   </a:t>
            </a:r>
            <a:r>
              <a:rPr sz="1300" b="0">
                <a:solidFill>
                  <a:srgbClr val="3D4248"/>
                </a:solidFill>
                <a:latin typeface="Segoe UI"/>
              </a:rPr>
              <a:t>grant-funded pilot, two provinces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Year 2   </a:t>
            </a:r>
            <a:r>
              <a:rPr sz="1300" b="0">
                <a:solidFill>
                  <a:srgbClr val="3D4248"/>
                </a:solidFill>
                <a:latin typeface="Segoe UI"/>
              </a:rPr>
              <a:t>four provinces at R150k, NGO tier at R25k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Year 3   </a:t>
            </a:r>
            <a:r>
              <a:rPr sz="1300" b="0">
                <a:solidFill>
                  <a:srgbClr val="3D4248"/>
                </a:solidFill>
                <a:latin typeface="Segoe UI"/>
              </a:rPr>
              <a:t>nine provinces, national rollout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767C85"/>
                </a:solidFill>
                <a:latin typeface="Segoe UI"/>
              </a:rPr>
              <a:t>Adding a province is a filter, not a project.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394960"/>
            <a:ext cx="10637215" cy="822960"/>
          </a:xfrm>
          <a:prstGeom prst="roundRect">
            <a:avLst>
              <a:gd name="adj" fmla="val 6000"/>
            </a:avLst>
          </a:prstGeom>
          <a:solidFill>
            <a:srgbClr val="14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8136" y="5577840"/>
            <a:ext cx="1001542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500" b="0">
                <a:solidFill>
                  <a:srgbClr val="D8DCE1"/>
                </a:solidFill>
                <a:latin typeface="Segoe UI"/>
              </a:rPr>
              <a:t>The state has already spent about R200,000 educating one learner by Grade 10. </a:t>
            </a:r>
            <a:r>
              <a:rPr sz="1500" b="1">
                <a:solidFill>
                  <a:srgbClr val="EB6834"/>
                </a:solidFill>
                <a:latin typeface="Segoe UI"/>
              </a:rPr>
              <a:t>This costs less than three of them.</a:t>
            </a:r>
          </a:p>
          <a:p>
            <a:pPr>
              <a:lnSpc>
                <a:spcPct val="126000"/>
              </a:lnSpc>
              <a:spcAft>
                <a:spcPts val="0"/>
              </a:spcAft>
            </a:pPr>
            <a:r>
              <a:rPr sz="1150" b="0">
                <a:solidFill>
                  <a:srgbClr val="A8B0BA"/>
                </a:solidFill>
                <a:latin typeface="Segoe UI"/>
              </a:rPr>
              <a:t>The argument is not that the tool is cheap. It is that it is negligible against what is already being spent on the learners it exists to keep in school.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67C85"/>
                </a:solidFill>
                <a:latin typeface="Segoe UI"/>
              </a:rPr>
              <a:t>The Missing List  ·  DataQuest  ·  Education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00055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67C85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767C85"/>
                </a:solidFill>
                <a:latin typeface="Segoe UI"/>
              </a:rP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859536"/>
            <a:ext cx="658368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60704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>
                <a:solidFill>
                  <a:srgbClr val="14171A"/>
                </a:solidFill>
                <a:latin typeface="Segoe UI"/>
              </a:rPr>
              <a:t>What we are honest 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0">
                <a:solidFill>
                  <a:srgbClr val="767C85"/>
                </a:solidFill>
                <a:latin typeface="Segoe UI"/>
              </a:rPr>
              <a:t>Every one of these is on the live application, not held back for the questions.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76272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500"/>
              </a:spcAft>
            </a:pPr>
            <a:r>
              <a:rPr sz="1400" b="1">
                <a:solidFill>
                  <a:srgbClr val="14171A"/>
                </a:solidFill>
                <a:latin typeface="Segoe UI"/>
              </a:rPr>
              <a:t>It measures enrolment decline, not dropout.</a:t>
            </a:r>
            <a:r>
              <a:rPr sz="1400" b="0">
                <a:solidFill>
                  <a:srgbClr val="3D4248"/>
                </a:solidFill>
                <a:latin typeface="Segoe UI"/>
              </a:rPr>
              <a:t> A learner who transfers to a better school and one who leaves education entirely look identical in a headcount.</a:t>
            </a:r>
          </a:p>
          <a:p>
            <a:pPr>
              <a:lnSpc>
                <a:spcPct val="130000"/>
              </a:lnSpc>
              <a:spcAft>
                <a:spcPts val="1500"/>
              </a:spcAft>
            </a:pPr>
            <a:r>
              <a:rPr sz="1400" b="1">
                <a:solidFill>
                  <a:srgbClr val="14171A"/>
                </a:solidFill>
                <a:latin typeface="Segoe UI"/>
              </a:rPr>
              <a:t>It is a triage list, not a verdict.</a:t>
            </a:r>
            <a:r>
              <a:rPr sz="1400" b="0">
                <a:solidFill>
                  <a:srgbClr val="3D4248"/>
                </a:solidFill>
                <a:latin typeface="Segoe UI"/>
              </a:rPr>
              <a:t> At 0.694 AUC the ranking is worth working from the top of, and not good enough to be believed about any single school without a visit.</a:t>
            </a:r>
          </a:p>
          <a:p>
            <a:pPr>
              <a:lnSpc>
                <a:spcPct val="130000"/>
              </a:lnSpc>
              <a:spcAft>
                <a:spcPts val="1500"/>
              </a:spcAft>
            </a:pPr>
            <a:r>
              <a:rPr sz="1400" b="1">
                <a:solidFill>
                  <a:srgbClr val="14171A"/>
                </a:solidFill>
                <a:latin typeface="Segoe UI"/>
              </a:rPr>
              <a:t>Population stability is a real caveat.</a:t>
            </a:r>
            <a:r>
              <a:rPr sz="1400" b="0">
                <a:solidFill>
                  <a:srgbClr val="3D4248"/>
                </a:solidFill>
                <a:latin typeface="Segoe UI"/>
              </a:rPr>
              <a:t> PSI is 0.44 from training to the 2025 register, above the level at which a scorecard is normally rebuilt. Seventeen years separate them. It is the strongest argument for annual retraining.</a:t>
            </a:r>
          </a:p>
          <a:p>
            <a:pPr>
              <a:lnSpc>
                <a:spcPct val="130000"/>
              </a:lnSpc>
              <a:spcAft>
                <a:spcPts val="1500"/>
              </a:spcAft>
            </a:pPr>
            <a:r>
              <a:rPr sz="1400" b="1">
                <a:solidFill>
                  <a:srgbClr val="14171A"/>
                </a:solidFill>
                <a:latin typeface="Segoe UI"/>
              </a:rPr>
              <a:t>The raw masterlists are incomplete in the repository.</a:t>
            </a:r>
            <a:r>
              <a:rPr sz="1400" b="0">
                <a:solidFill>
                  <a:srgbClr val="3D4248"/>
                </a:solidFill>
                <a:latin typeface="Segoe UI"/>
              </a:rPr>
              <a:t> Four of the 140 spreadsheets remain; the built tables were produced from the full set and are committed in full. The README says so rather than implying otherwise.</a:t>
            </a:r>
          </a:p>
          <a:p>
            <a:pPr>
              <a:lnSpc>
                <a:spcPct val="130000"/>
              </a:lnSpc>
              <a:spcAft>
                <a:spcPts val="1500"/>
              </a:spcAft>
            </a:pPr>
            <a:r>
              <a:rPr sz="1400" b="1">
                <a:solidFill>
                  <a:srgbClr val="14171A"/>
                </a:solidFill>
                <a:latin typeface="Segoe UI"/>
              </a:rPr>
              <a:t>A better model exists and is not shipped.</a:t>
            </a:r>
            <a:r>
              <a:rPr sz="1400" b="0">
                <a:solidFill>
                  <a:srgbClr val="3D4248"/>
                </a:solidFill>
                <a:latin typeface="Segoe UI"/>
              </a:rPr>
              <a:t> The forest reaches 0.7161. We report the gap rather than hide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532120"/>
            <a:ext cx="10637215" cy="713232"/>
          </a:xfrm>
          <a:prstGeom prst="round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5705856"/>
            <a:ext cx="1005199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00" b="0">
                <a:solidFill>
                  <a:srgbClr val="3D4248"/>
                </a:solidFill>
                <a:latin typeface="Segoe UI"/>
              </a:rPr>
              <a:t>A model that directs public money should be re-validated annually and withdrawn if it stops performing. </a:t>
            </a:r>
            <a:r>
              <a:rPr sz="1300" b="1">
                <a:solidFill>
                  <a:srgbClr val="14171A"/>
                </a:solidFill>
                <a:latin typeface="Segoe UI"/>
              </a:rPr>
              <a:t>A model nobody re-checks is a governance risk long before it is a technical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67C85"/>
                </a:solidFill>
                <a:latin typeface="Segoe UI"/>
              </a:rPr>
              <a:t>The Missing List  ·  DataQuest  ·  Education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55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67C85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14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B6834"/>
                </a:solidFill>
                <a:latin typeface="Segoe UI"/>
              </a:rPr>
              <a:t>THE MISSING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2412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Open government data, a list a province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can act on this week, and a reason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3800" b="1">
                <a:solidFill>
                  <a:srgbClr val="EB6834"/>
                </a:solidFill>
                <a:latin typeface="Segoe UI"/>
              </a:rPr>
              <a:t>next to every school.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343400"/>
            <a:ext cx="24947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7,681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846320"/>
            <a:ext cx="24947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A8B0BA"/>
                </a:solidFill>
                <a:latin typeface="Segoe UI"/>
              </a:rPr>
              <a:t>schools scored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91407" y="4343400"/>
            <a:ext cx="24947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842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1407" y="4846320"/>
            <a:ext cx="24947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A8B0BA"/>
                </a:solidFill>
                <a:latin typeface="Segoe UI"/>
              </a:rPr>
              <a:t>priority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5575" y="4343400"/>
            <a:ext cx="24947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5575" y="4846320"/>
            <a:ext cx="24947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A8B0BA"/>
                </a:solidFill>
                <a:latin typeface="Segoe UI"/>
              </a:rPr>
              <a:t>data discrepancies 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9743" y="4343400"/>
            <a:ext cx="24947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0.694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9743" y="4846320"/>
            <a:ext cx="24947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A8B0BA"/>
                </a:solidFill>
                <a:latin typeface="Segoe UI"/>
              </a:rPr>
              <a:t>AUC on unseen years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5216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A8B0BA"/>
                </a:solidFill>
                <a:latin typeface="Segoe UI"/>
              </a:rPr>
              <a:t>github.com/Mandla78/lp-dev-dataquest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